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85" r:id="rId11"/>
    <p:sldId id="286" r:id="rId12"/>
    <p:sldId id="287" r:id="rId13"/>
    <p:sldId id="288" r:id="rId14"/>
    <p:sldId id="289" r:id="rId15"/>
    <p:sldId id="290" r:id="rId16"/>
    <p:sldId id="292" r:id="rId17"/>
    <p:sldId id="270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6" autoAdjust="0"/>
    <p:restoredTop sz="94660"/>
  </p:normalViewPr>
  <p:slideViewPr>
    <p:cSldViewPr>
      <p:cViewPr>
        <p:scale>
          <a:sx n="66" d="100"/>
          <a:sy n="66" d="100"/>
        </p:scale>
        <p:origin x="1282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20724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anam-srikanth-949883285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anamsrikanth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735324" y="3861048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b="1" dirty="0"/>
              <a:t>Retail Banking Transaction Analysis</a:t>
            </a:r>
            <a:endParaRPr sz="320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0830796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B.E(CSE)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 : </a:t>
            </a:r>
            <a:r>
              <a:rPr lang="en-US" sz="2400" dirty="0"/>
              <a:t>I enjoy working with data and finding useful insights from it. I want to improve my skills in SQL, Python and EDA and build a career in Data Science.</a:t>
            </a:r>
          </a:p>
          <a:p>
            <a:pPr lvl="0">
              <a:buClr>
                <a:schemeClr val="dk1"/>
              </a:buClr>
              <a:buSzPts val="2400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ork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xperience : </a:t>
            </a:r>
            <a:r>
              <a:rPr lang="en-IN" sz="2400" dirty="0"/>
              <a:t>Fresher</a:t>
            </a: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dirty="0"/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 URLs : 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https://www.linkedin.com/in/manam-srikanth-949883285/ </a:t>
            </a: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endParaRPr lang="en-IN" sz="2400" dirty="0"/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Hub profile URLs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https://github.com/manamsrikanth 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623392" y="548680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Table of contents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Project Overview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Business Scenario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Business Objectives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Dataset &amp; Database Overview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ER Diagram &amp; Database Structure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Analysis of the Objectives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Overall Key Findings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Business Recommendations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Conclusion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Q&amp;A</a:t>
            </a:r>
            <a:endParaRPr sz="326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Project Overview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Project:</a:t>
            </a:r>
            <a:r>
              <a:rPr lang="en-US" dirty="0"/>
              <a:t> </a:t>
            </a:r>
            <a:r>
              <a:rPr lang="en-US" sz="2400" dirty="0"/>
              <a:t>Retail Banking Transaction Analysis.</a:t>
            </a:r>
          </a:p>
          <a:p>
            <a:r>
              <a:rPr lang="en-US" b="1" dirty="0"/>
              <a:t>Domain:</a:t>
            </a:r>
            <a:r>
              <a:rPr lang="en-US" dirty="0"/>
              <a:t> </a:t>
            </a:r>
            <a:r>
              <a:rPr lang="en-US" sz="2400" dirty="0"/>
              <a:t>Retail Banking.</a:t>
            </a:r>
          </a:p>
          <a:p>
            <a:r>
              <a:rPr lang="en-US" b="1" dirty="0"/>
              <a:t>Tool Used:</a:t>
            </a:r>
            <a:r>
              <a:rPr lang="en-US" dirty="0"/>
              <a:t> </a:t>
            </a:r>
            <a:r>
              <a:rPr lang="en-US" sz="2400" dirty="0"/>
              <a:t>MySQL.</a:t>
            </a:r>
          </a:p>
          <a:p>
            <a:r>
              <a:rPr lang="en-US" b="1" dirty="0"/>
              <a:t>Data:</a:t>
            </a:r>
            <a:r>
              <a:rPr lang="en-US" dirty="0"/>
              <a:t> </a:t>
            </a:r>
            <a:r>
              <a:rPr lang="en-US" sz="2400" dirty="0"/>
              <a:t>Customers, Accounts, Branches, Loans, Loan Payments, Cards and Transactions.</a:t>
            </a:r>
          </a:p>
          <a:p>
            <a:r>
              <a:rPr lang="en-US" b="1" dirty="0"/>
              <a:t>Database:</a:t>
            </a:r>
            <a:r>
              <a:rPr lang="en-US" dirty="0"/>
              <a:t> </a:t>
            </a:r>
            <a:r>
              <a:rPr lang="en-US" sz="2400" dirty="0"/>
              <a:t>Relational database with connected banking entities.</a:t>
            </a:r>
          </a:p>
          <a:p>
            <a:r>
              <a:rPr lang="en-US" b="1" dirty="0"/>
              <a:t>Goal:</a:t>
            </a:r>
            <a:r>
              <a:rPr lang="en-US" dirty="0"/>
              <a:t> </a:t>
            </a:r>
            <a:r>
              <a:rPr lang="en-US" sz="2400" dirty="0"/>
              <a:t>Analyze customer behavior, account activity, transactions,   loans and card usage to generate meaningful business insights.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85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Business Scenario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400" dirty="0"/>
              <a:t>A retail bank manages customer accounts, branches, loans, loan payments, cards and financial transactions across its operations.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sz="2400" b="1" dirty="0"/>
              <a:t>The bank wants to:</a:t>
            </a:r>
            <a:endParaRPr lang="en-US" sz="2400" dirty="0"/>
          </a:p>
          <a:p>
            <a:r>
              <a:rPr lang="en-US" sz="2400" dirty="0"/>
              <a:t>Understand customer profiles and segments </a:t>
            </a:r>
          </a:p>
          <a:p>
            <a:r>
              <a:rPr lang="en-US" sz="2400" dirty="0"/>
              <a:t>Monitor account usage and branch activity </a:t>
            </a:r>
          </a:p>
          <a:p>
            <a:r>
              <a:rPr lang="en-US" sz="2400" dirty="0"/>
              <a:t>Analyze transaction patterns </a:t>
            </a:r>
          </a:p>
          <a:p>
            <a:r>
              <a:rPr lang="en-US" sz="2400" dirty="0"/>
              <a:t>Evaluate loan performance and repayment </a:t>
            </a:r>
          </a:p>
          <a:p>
            <a:r>
              <a:rPr lang="en-US" sz="2400" dirty="0"/>
              <a:t>Understand card usage and customer engagement </a:t>
            </a:r>
          </a:p>
          <a:p>
            <a:r>
              <a:rPr lang="en-US" sz="2400" dirty="0"/>
              <a:t>Use these insights to support better business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776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Business Objectives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400" b="1" dirty="0"/>
              <a:t>There are 5 major analytical objectives :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2400" b="1" dirty="0"/>
              <a:t>Customer Profile &amp; Segmentation : </a:t>
            </a:r>
            <a:r>
              <a:rPr lang="en-US" sz="2400" dirty="0"/>
              <a:t>Analyze customer demographics, income, credit score, KYC status and segments.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/>
              <a:t>Account Usage &amp; Branch Activity :</a:t>
            </a:r>
            <a:r>
              <a:rPr lang="en-US" sz="2400" dirty="0"/>
              <a:t> Analyze account balances, account types, branch activity and account status.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/>
              <a:t>Transaction Patterns :</a:t>
            </a:r>
            <a:r>
              <a:rPr lang="en-US" sz="2400" dirty="0"/>
              <a:t> Analyze transaction types, channels, amounts and customer/account transaction behavior.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/>
              <a:t>Loan Performance &amp; Repayment : </a:t>
            </a:r>
            <a:r>
              <a:rPr lang="en-US" sz="2400" dirty="0"/>
              <a:t>Analyze loan types, amounts, outstanding balances, statuses and repayment patterns.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/>
              <a:t>Card Usage &amp; Product Engagement : </a:t>
            </a:r>
            <a:r>
              <a:rPr lang="en-US" sz="2400" dirty="0"/>
              <a:t>Analyze card types, credit limits, outstanding balances and reward points.</a:t>
            </a:r>
          </a:p>
        </p:txBody>
      </p:sp>
    </p:spTree>
    <p:extLst>
      <p:ext uri="{BB962C8B-B14F-4D97-AF65-F5344CB8AC3E}">
        <p14:creationId xmlns:p14="http://schemas.microsoft.com/office/powerpoint/2010/main" val="727272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Dataset &amp; Database Overview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sz="2900" b="1" dirty="0"/>
              <a:t>Dataset Overview : 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900" b="1" dirty="0"/>
              <a:t>Customers — 500 records</a:t>
            </a:r>
            <a:r>
              <a:rPr lang="en-US" sz="2900" dirty="0"/>
              <a:t> </a:t>
            </a:r>
            <a:r>
              <a:rPr lang="en-US" sz="2900" b="1" dirty="0"/>
              <a:t>: </a:t>
            </a:r>
            <a:r>
              <a:rPr lang="en-US" sz="2900" dirty="0"/>
              <a:t>Customer personal details, income, credit score, KYC status and customer segment.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900" b="1" dirty="0"/>
              <a:t>Accounts — 700 records : </a:t>
            </a:r>
            <a:r>
              <a:rPr lang="en-US" sz="2900" dirty="0"/>
              <a:t>Account type, balance, interest rate, status and customer/branch details.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900" b="1" dirty="0"/>
              <a:t>Branches — 40 records : </a:t>
            </a:r>
            <a:r>
              <a:rPr lang="en-US" sz="2900" dirty="0"/>
              <a:t>Branch name, location, region, opening date and employee count.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900" b="1" dirty="0"/>
              <a:t>Loans — 300 records</a:t>
            </a:r>
            <a:r>
              <a:rPr lang="en-US" sz="2900" dirty="0"/>
              <a:t> </a:t>
            </a:r>
            <a:r>
              <a:rPr lang="en-US" sz="2900" b="1" dirty="0"/>
              <a:t>:</a:t>
            </a:r>
            <a:r>
              <a:rPr lang="en-US" sz="2900" dirty="0"/>
              <a:t> Loan type, principal amount, interest rate, tenure, outstanding balance and status.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900" b="1" dirty="0"/>
              <a:t>Loan Payments — 2,000 records</a:t>
            </a:r>
            <a:r>
              <a:rPr lang="en-US" sz="2900" dirty="0"/>
              <a:t> </a:t>
            </a:r>
            <a:r>
              <a:rPr lang="en-US" sz="2900" b="1" dirty="0"/>
              <a:t>:</a:t>
            </a:r>
            <a:r>
              <a:rPr lang="en-US" sz="2900" dirty="0"/>
              <a:t> Payment amount, principal paid, interest paid, penalty, days late and payment method.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900" b="1" dirty="0"/>
              <a:t>Cards — 600 records :</a:t>
            </a:r>
            <a:r>
              <a:rPr lang="en-US" sz="2900" dirty="0"/>
              <a:t> Card type, credit limit, outstanding balance, reward points and card status.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2900" b="1" dirty="0"/>
              <a:t>Transactions — 5,000 records : </a:t>
            </a:r>
            <a:r>
              <a:rPr lang="en-IN" sz="2900" dirty="0"/>
              <a:t> Transaction type, amount, channel, date, time, status and balance information.</a:t>
            </a:r>
          </a:p>
          <a:p>
            <a:pPr marL="114300" indent="0">
              <a:buNone/>
            </a:pPr>
            <a:endParaRPr lang="en-IN" sz="2900" dirty="0"/>
          </a:p>
          <a:p>
            <a:pPr marL="114300" indent="0">
              <a:buNone/>
            </a:pPr>
            <a:r>
              <a:rPr lang="en-IN" sz="2900" b="1" dirty="0"/>
              <a:t>Database : </a:t>
            </a:r>
          </a:p>
          <a:p>
            <a:pPr marL="114300" indent="0">
              <a:buNone/>
            </a:pPr>
            <a:r>
              <a:rPr lang="en-US" b="1" dirty="0"/>
              <a:t>MySQL Relational Database</a:t>
            </a:r>
            <a:endParaRPr lang="en-US" dirty="0"/>
          </a:p>
          <a:p>
            <a:r>
              <a:rPr lang="en-US" dirty="0"/>
              <a:t>7 related tables </a:t>
            </a:r>
          </a:p>
          <a:p>
            <a:r>
              <a:rPr lang="en-US" dirty="0"/>
              <a:t>Primary Keys for unique identification </a:t>
            </a:r>
          </a:p>
          <a:p>
            <a:r>
              <a:rPr lang="en-US" dirty="0"/>
              <a:t>Foreign Keys for table relationships </a:t>
            </a:r>
          </a:p>
          <a:p>
            <a:r>
              <a:rPr lang="en-US" dirty="0"/>
              <a:t>Data analyzed using SQL queries</a:t>
            </a:r>
          </a:p>
          <a:p>
            <a:pPr marL="114300" indent="0">
              <a:buNone/>
            </a:pPr>
            <a:endParaRPr lang="en-IN" sz="3100" b="1" dirty="0"/>
          </a:p>
        </p:txBody>
      </p:sp>
    </p:spTree>
    <p:extLst>
      <p:ext uri="{BB962C8B-B14F-4D97-AF65-F5344CB8AC3E}">
        <p14:creationId xmlns:p14="http://schemas.microsoft.com/office/powerpoint/2010/main" val="57608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ER Diagram &amp; Database Structure</a:t>
            </a:r>
            <a:endParaRPr lang="en-IN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" r="1018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Relationship explanation</a:t>
            </a:r>
          </a:p>
          <a:p>
            <a:r>
              <a:rPr lang="en-US" b="1" dirty="0"/>
              <a:t>1. Customers → Accounts:</a:t>
            </a:r>
            <a:r>
              <a:rPr lang="en-US" dirty="0"/>
              <a:t> One customer can have multiple accounts. </a:t>
            </a:r>
          </a:p>
          <a:p>
            <a:r>
              <a:rPr lang="en-US" b="1" dirty="0"/>
              <a:t>2. Branches → Accounts:</a:t>
            </a:r>
            <a:r>
              <a:rPr lang="en-US" dirty="0"/>
              <a:t> One branch can have multiple accounts. </a:t>
            </a:r>
          </a:p>
          <a:p>
            <a:r>
              <a:rPr lang="en-US" b="1" dirty="0"/>
              <a:t>3. Customers → Loans:</a:t>
            </a:r>
            <a:r>
              <a:rPr lang="en-US" dirty="0"/>
              <a:t> One customer can have multiple loans. </a:t>
            </a:r>
          </a:p>
          <a:p>
            <a:r>
              <a:rPr lang="en-US" b="1" dirty="0"/>
              <a:t>4. Branches → Loans:</a:t>
            </a:r>
            <a:r>
              <a:rPr lang="en-US" dirty="0"/>
              <a:t> One branch can have multiple loans. </a:t>
            </a:r>
          </a:p>
          <a:p>
            <a:r>
              <a:rPr lang="en-US" b="1" dirty="0"/>
              <a:t>5. Loans → Loan Payments:</a:t>
            </a:r>
            <a:r>
              <a:rPr lang="en-US" dirty="0"/>
              <a:t> One loan can have multiple payments. </a:t>
            </a:r>
          </a:p>
          <a:p>
            <a:r>
              <a:rPr lang="en-US" b="1" dirty="0"/>
              <a:t>6. Accounts → Cards:</a:t>
            </a:r>
            <a:r>
              <a:rPr lang="en-US" dirty="0"/>
              <a:t> One account can have multiple cards. </a:t>
            </a:r>
          </a:p>
          <a:p>
            <a:r>
              <a:rPr lang="en-US" b="1" dirty="0"/>
              <a:t>7. Accounts → Transactions:</a:t>
            </a:r>
            <a:r>
              <a:rPr lang="en-US" dirty="0"/>
              <a:t> One account can have multiple transactions.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062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Analysis of the Objectives</a:t>
            </a:r>
            <a:endParaRPr lang="en-IN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200" b="1" dirty="0"/>
              <a:t>Objective 4.1: Customer Profile &amp; Segmentation</a:t>
            </a:r>
          </a:p>
          <a:p>
            <a:pPr marL="114300" indent="0">
              <a:buNone/>
            </a:pPr>
            <a:r>
              <a:rPr lang="en-US" sz="2200" b="1" dirty="0"/>
              <a:t>Objective :</a:t>
            </a:r>
            <a:r>
              <a:rPr lang="en-US" sz="2200" dirty="0"/>
              <a:t> Understand the customer base and identify differences between customer groups.</a:t>
            </a:r>
          </a:p>
          <a:p>
            <a:pPr marL="114300" indent="0">
              <a:buNone/>
            </a:pPr>
            <a:r>
              <a:rPr lang="en-US" sz="2200" b="1" dirty="0"/>
              <a:t>Key Questions Analyzed:</a:t>
            </a:r>
            <a:endParaRPr lang="en-US" sz="2200" dirty="0"/>
          </a:p>
          <a:p>
            <a:pPr marL="114300" indent="0">
              <a:buNone/>
            </a:pPr>
            <a:r>
              <a:rPr lang="en-IN" sz="2400" b="1" dirty="0"/>
              <a:t>1. Which customer segment has the most customers?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615256-D478-1E48-E96C-FC54ACB34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112" y="4226169"/>
            <a:ext cx="2952328" cy="19435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B5214C-0BBF-0F5B-DDA3-D8E21D0DA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4305220"/>
            <a:ext cx="3816425" cy="187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26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A17C-A803-3355-8622-949084A0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56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Analysis of the 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F4A37-EB1E-2C22-125B-9D15C2125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44575"/>
            <a:ext cx="10804848" cy="523180"/>
          </a:xfrm>
          <a:noFill/>
        </p:spPr>
        <p:txBody>
          <a:bodyPr wrap="square" rtlCol="0">
            <a:spAutoFit/>
          </a:bodyPr>
          <a:lstStyle/>
          <a:p>
            <a:pPr marL="11430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en-IN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3. Which branch has the highest number of accounts?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1C25E1-5A19-641C-C043-EB06B176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80" y="4725121"/>
            <a:ext cx="2448272" cy="1584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6648FE-D05C-CBD4-0B06-75C8405B2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605" y="4464708"/>
            <a:ext cx="3543300" cy="21050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8E0D31-9CA7-54FB-5447-922EC92CE423}"/>
              </a:ext>
            </a:extLst>
          </p:cNvPr>
          <p:cNvSpPr txBox="1"/>
          <p:nvPr/>
        </p:nvSpPr>
        <p:spPr>
          <a:xfrm>
            <a:off x="861716" y="1148203"/>
            <a:ext cx="10492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Which customer segment has the highest average annual income?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B747F5-8F7F-68E9-07AC-38FFCB7B0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496" y="1858015"/>
            <a:ext cx="3543300" cy="17621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58AD59-BA64-01DE-E88D-9F9DB39C5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265" y="1867411"/>
            <a:ext cx="34004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35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4CE8-2101-2338-EDEF-11E915CD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5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Analysis of the 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61607-29CB-3670-446A-1FDD1EE15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08720"/>
            <a:ext cx="10515600" cy="5268243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4. Which branch has the highest total current account balance?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E5334D-425D-52C7-A277-21C6B32E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541165"/>
            <a:ext cx="3924300" cy="2305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ECFFCD-EAB4-232D-6AC7-A3FBFC191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12" y="1541166"/>
            <a:ext cx="3787899" cy="23050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98D7DE-4DDF-AB1A-BDF0-AE41BAE1E78F}"/>
              </a:ext>
            </a:extLst>
          </p:cNvPr>
          <p:cNvSpPr txBox="1"/>
          <p:nvPr/>
        </p:nvSpPr>
        <p:spPr>
          <a:xfrm>
            <a:off x="838200" y="3884541"/>
            <a:ext cx="10730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Which transaction type has the highest total transaction amount</a:t>
            </a:r>
            <a:r>
              <a:rPr lang="en-IN" sz="2800" b="1" dirty="0"/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57EC82-4F83-58C7-99C6-BEA5F970C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095" y="4527187"/>
            <a:ext cx="3924300" cy="15716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04CCAA-4111-45BD-2E97-FFB6C9FDF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241" y="4481108"/>
            <a:ext cx="338137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2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CD73-B623-33E6-FCDE-B837BD2B9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59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Analysis of the 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782CF-6A2C-D60A-963E-F4A4A9414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2736"/>
            <a:ext cx="11162456" cy="5124227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6. Which customer has the highest total amount of completed transactions?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787AB-44B4-67E1-853A-292AD509DD0E}"/>
              </a:ext>
            </a:extLst>
          </p:cNvPr>
          <p:cNvSpPr txBox="1"/>
          <p:nvPr/>
        </p:nvSpPr>
        <p:spPr>
          <a:xfrm>
            <a:off x="983432" y="4062714"/>
            <a:ext cx="8187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Which loan type has the highest number of loans?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47427-F885-0A7E-F308-C2F9A16CA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2111152"/>
            <a:ext cx="4000500" cy="1944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EFD737-3C5D-D930-62EB-C90B904B6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858" y="2636912"/>
            <a:ext cx="2971800" cy="10839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90F7DD-8573-D9F5-171A-4C610BEA8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496" y="4665622"/>
            <a:ext cx="2638425" cy="152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B20BDF-C8E3-5F61-42E4-59E02639E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604" y="4665622"/>
            <a:ext cx="25717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983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0041-8E5F-1D44-F762-3F5FA4F7E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158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Analysis of the 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1AB63-1CEF-F60C-3CAE-FF7D30FDD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36712"/>
            <a:ext cx="10515600" cy="5340251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8. Which branches have a total outstanding loan balance greater than ₹500,000?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643F9-6907-1C93-55EA-D55B3F85FE95}"/>
              </a:ext>
            </a:extLst>
          </p:cNvPr>
          <p:cNvSpPr txBox="1"/>
          <p:nvPr/>
        </p:nvSpPr>
        <p:spPr>
          <a:xfrm>
            <a:off x="1055440" y="4097438"/>
            <a:ext cx="9269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Which card type has the highest average credit limit?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331CD-485F-9957-FCDD-2BB915CF2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916832"/>
            <a:ext cx="4829175" cy="2095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8C2B0D-B3E3-32EA-6135-1D4AD5A9C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651" y="1920950"/>
            <a:ext cx="3686175" cy="190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03609A-9DC8-2B65-D74A-236E1FF6E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583" y="4705764"/>
            <a:ext cx="3971925" cy="1762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48C952-1EE0-3E32-0EAC-D17877325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651" y="5176838"/>
            <a:ext cx="28765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83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0D2AB-E173-B9D9-3EFC-F2DE7379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Analysis of the 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20C69-7F64-2295-93CA-A9C921E6A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/>
              <a:t>10. Which customer has the highest total outstanding balance across active cards?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B9039-DFE0-1460-961A-80D5E9DBF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986088"/>
            <a:ext cx="5238750" cy="3190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61EBD2-2026-1B56-4705-1F1B9058C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431" y="3717032"/>
            <a:ext cx="3390900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96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5E09-5482-494D-0936-744D69BCE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sym typeface="Arial"/>
              </a:rPr>
              <a:t>Overall Key Findings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9DD2E-E3A0-C69E-EDD6-E7E551C33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4784"/>
            <a:ext cx="10515600" cy="4692179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n-IN" b="1" dirty="0"/>
              <a:t>Customer Profile:</a:t>
            </a:r>
            <a:r>
              <a:rPr lang="en-IN" dirty="0"/>
              <a:t> The bank can identify its most valuable customer segments using customer count, income, and credit-score patterns. </a:t>
            </a:r>
          </a:p>
          <a:p>
            <a:pPr lvl="0" algn="just"/>
            <a:r>
              <a:rPr lang="en-IN" b="1" dirty="0"/>
              <a:t>Account &amp; Branch Activity:</a:t>
            </a:r>
            <a:r>
              <a:rPr lang="en-IN" dirty="0"/>
              <a:t> Jacksonville Branch leads in account volume with 67 accounts, showing strong customer presence. </a:t>
            </a:r>
          </a:p>
          <a:p>
            <a:pPr lvl="0" algn="just"/>
            <a:r>
              <a:rPr lang="en-IN" b="1" dirty="0"/>
              <a:t>Transaction Patterns:</a:t>
            </a:r>
            <a:r>
              <a:rPr lang="en-IN" dirty="0"/>
              <a:t> C000500 is a high-value customer, with ₹100,517.16 in completed transactions. </a:t>
            </a:r>
          </a:p>
          <a:p>
            <a:pPr lvl="0" algn="just"/>
            <a:r>
              <a:rPr lang="en-IN" b="1" dirty="0"/>
              <a:t>Loan Performance:</a:t>
            </a:r>
            <a:r>
              <a:rPr lang="en-IN" dirty="0"/>
              <a:t> Education loans are the most common, while Home loans have the highest average outstanding balance, indicating higher loan exposure. </a:t>
            </a:r>
          </a:p>
          <a:p>
            <a:pPr lvl="0" algn="just"/>
            <a:r>
              <a:rPr lang="en-IN" b="1" dirty="0"/>
              <a:t>Card Engagement:</a:t>
            </a:r>
            <a:r>
              <a:rPr lang="en-IN" dirty="0"/>
              <a:t> C000015 has the highest active-card outstanding balance of ₹33,836.91, indicating a customer requiring closer credit monitoring. 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618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41E87-D768-1785-4BAB-64588BA1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sym typeface="Arial"/>
              </a:rPr>
              <a:t>Business Recommendations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2B78A-30B5-0A72-C869-56B49D69B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Customer Segmentation:</a:t>
            </a:r>
            <a:r>
              <a:rPr lang="en-IN" dirty="0"/>
              <a:t> Focus targeted marketing and premium products on high-value customer segments. </a:t>
            </a:r>
          </a:p>
          <a:p>
            <a:pPr lvl="0"/>
            <a:r>
              <a:rPr lang="en-IN" b="1" dirty="0"/>
              <a:t>Branch Activity:</a:t>
            </a:r>
            <a:r>
              <a:rPr lang="en-IN" dirty="0"/>
              <a:t> Strengthen Jacksonville and Atlanta branches through customer retention and cross-selling opportunities, based on their strong account activity and balances. </a:t>
            </a:r>
          </a:p>
          <a:p>
            <a:pPr lvl="0"/>
            <a:r>
              <a:rPr lang="en-IN" b="1" dirty="0"/>
              <a:t>Digital Transactions:</a:t>
            </a:r>
            <a:r>
              <a:rPr lang="en-IN" dirty="0"/>
              <a:t> Promote and improve Online and Mobile banking, as these channels handle relatively higher-value transactions. </a:t>
            </a:r>
          </a:p>
          <a:p>
            <a:pPr lvl="0"/>
            <a:r>
              <a:rPr lang="en-IN" b="1" dirty="0"/>
              <a:t>Loan Risk Management:</a:t>
            </a:r>
            <a:r>
              <a:rPr lang="en-IN" dirty="0"/>
              <a:t> Closely monitor branches with high outstanding loan balances, especially Louisville Branch, to improve recovery and control credit risk. </a:t>
            </a:r>
          </a:p>
          <a:p>
            <a:pPr lvl="0"/>
            <a:r>
              <a:rPr lang="en-IN" b="1" dirty="0"/>
              <a:t>Card Risk Management:</a:t>
            </a:r>
            <a:r>
              <a:rPr lang="en-IN" dirty="0"/>
              <a:t> Monitor customers with high card outstanding balances and provide suitable repayment or credit-management support.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64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2CC3-F4B7-7640-E220-C45DDBFB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C02C7-F78A-8F5A-135E-EDCEE3578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 Retail Banking Data Analytics project demonstrates how SQL can be used to </a:t>
            </a:r>
            <a:r>
              <a:rPr lang="en-IN" dirty="0" err="1"/>
              <a:t>analyze</a:t>
            </a:r>
            <a:r>
              <a:rPr lang="en-IN" dirty="0"/>
              <a:t> real-world banking data in a structured and meaningful way.</a:t>
            </a:r>
          </a:p>
          <a:p>
            <a:r>
              <a:rPr lang="en-IN" dirty="0"/>
              <a:t>The project covers the complete process from </a:t>
            </a:r>
            <a:r>
              <a:rPr lang="en-IN" b="1" dirty="0"/>
              <a:t>understanding the business problem and designing the database to </a:t>
            </a:r>
            <a:r>
              <a:rPr lang="en-IN" b="1" dirty="0" err="1"/>
              <a:t>analyzing</a:t>
            </a:r>
            <a:r>
              <a:rPr lang="en-IN" b="1" dirty="0"/>
              <a:t> the data and generating insights</a:t>
            </a:r>
            <a:r>
              <a:rPr lang="en-IN" dirty="0"/>
              <a:t>.</a:t>
            </a:r>
          </a:p>
          <a:p>
            <a:r>
              <a:rPr lang="en-IN" dirty="0"/>
              <a:t>By </a:t>
            </a:r>
            <a:r>
              <a:rPr lang="en-IN" dirty="0" err="1"/>
              <a:t>analyzing</a:t>
            </a:r>
            <a:r>
              <a:rPr lang="en-IN" dirty="0"/>
              <a:t> customers, accounts, transactions, cards, loans, and loan payments together, the project provides a broader understanding of banking operations and customer activity.</a:t>
            </a:r>
          </a:p>
          <a:p>
            <a:r>
              <a:rPr lang="en-IN" dirty="0"/>
              <a:t>Overall, the project shows how </a:t>
            </a:r>
            <a:r>
              <a:rPr lang="en-IN" b="1" dirty="0"/>
              <a:t>data analysis can help transform raw banking data into useful information for better business decisions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216971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</TotalTime>
  <Words>1111</Words>
  <Application>Microsoft Office PowerPoint</Application>
  <PresentationFormat>Widescreen</PresentationFormat>
  <Paragraphs>107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Libre Baskerville</vt:lpstr>
      <vt:lpstr>Lato Black</vt:lpstr>
      <vt:lpstr>Office Theme</vt:lpstr>
      <vt:lpstr>PowerPoint Presentation</vt:lpstr>
      <vt:lpstr>PowerPoint Presentation</vt:lpstr>
      <vt:lpstr>Table of contents</vt:lpstr>
      <vt:lpstr>Project Overview</vt:lpstr>
      <vt:lpstr>Business Scenario</vt:lpstr>
      <vt:lpstr>Business Objectives</vt:lpstr>
      <vt:lpstr>Dataset &amp; Database Overview</vt:lpstr>
      <vt:lpstr>ER Diagram &amp; Database Structure</vt:lpstr>
      <vt:lpstr>Analysis of the Objectives</vt:lpstr>
      <vt:lpstr>Analysis of the Objectives</vt:lpstr>
      <vt:lpstr>Analysis of the Objectives</vt:lpstr>
      <vt:lpstr>Analysis of the Objectives</vt:lpstr>
      <vt:lpstr>Analysis of the Objectives</vt:lpstr>
      <vt:lpstr>Analysis of the Objectives</vt:lpstr>
      <vt:lpstr>Overall Key Findings</vt:lpstr>
      <vt:lpstr>Business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Manam Srikanth</cp:lastModifiedBy>
  <cp:revision>34</cp:revision>
  <dcterms:created xsi:type="dcterms:W3CDTF">2021-02-16T05:19:01Z</dcterms:created>
  <dcterms:modified xsi:type="dcterms:W3CDTF">2026-09-09T19:04:45Z</dcterms:modified>
</cp:coreProperties>
</file>